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E5C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F3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Urban</c:v>
                  </c:pt>
                  <c:pt idx="1">
                    <c:v>Rural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1296</c:v>
                </c:pt>
                <c:pt idx="1">
                  <c:v>1204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F3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5C63"/>
              </a:solidFill>
              <a:effectLst/>
            </c:spPr>
          </c:dPt>
          <c:dPt>
            <c:idx val="1"/>
            <c:bubble3D val="0"/>
            <c:spPr>
              <a:solidFill>
                <a:srgbClr val="E8955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Own house</c:v>
                </c:pt>
                <c:pt idx="1">
                  <c:v>No house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1280</c:v>
                </c:pt>
                <c:pt idx="1">
                  <c:v>1220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1F3A3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95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F3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0-50k</c:v>
                  </c:pt>
                  <c:pt idx="1">
                    <c:v>50-100k</c:v>
                  </c:pt>
                  <c:pt idx="2">
                    <c:v>100-150k</c:v>
                  </c:pt>
                  <c:pt idx="3">
                    <c:v>150-200k</c:v>
                  </c:pt>
                  <c:pt idx="4">
                    <c:v>200-250k</c:v>
                  </c:pt>
                  <c:pt idx="5">
                    <c:v>250-300k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383</c:v>
                </c:pt>
                <c:pt idx="1">
                  <c:v>447</c:v>
                </c:pt>
                <c:pt idx="2">
                  <c:v>408</c:v>
                </c:pt>
                <c:pt idx="3">
                  <c:v>390</c:v>
                </c:pt>
                <c:pt idx="4">
                  <c:v>454</c:v>
                </c:pt>
                <c:pt idx="5">
                  <c:v>418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F3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Expense</c:v>
                </c:pt>
              </c:strCache>
            </c:strRef>
          </c:tx>
          <c:spPr>
            <a:solidFill>
              <a:srgbClr val="0E5C63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0E5C63"/>
              </a:solidFill>
              <a:ln w="9525" cap="flat">
                <a:solidFill>
                  <a:srgbClr val="0E5C63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157285</c:v>
                </c:pt>
                <c:pt idx="1">
                  <c:v>155268</c:v>
                </c:pt>
                <c:pt idx="2">
                  <c:v>152452</c:v>
                </c:pt>
                <c:pt idx="3">
                  <c:v>151427</c:v>
                </c:pt>
                <c:pt idx="4">
                  <c:v>150021</c:v>
                </c:pt>
                <c:pt idx="5">
                  <c:v>149235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117383</c:v>
                </c:pt>
                <c:pt idx="1">
                  <c:v>112650</c:v>
                </c:pt>
                <c:pt idx="2">
                  <c:v>113567</c:v>
                </c:pt>
                <c:pt idx="3">
                  <c:v>118553</c:v>
                </c:pt>
                <c:pt idx="4">
                  <c:v>116532</c:v>
                </c:pt>
                <c:pt idx="5">
                  <c:v>113377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E5C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F3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Karnataka</c:v>
                  </c:pt>
                  <c:pt idx="1">
                    <c:v>Delhi</c:v>
                  </c:pt>
                  <c:pt idx="2">
                    <c:v>Maharashtra</c:v>
                  </c:pt>
                  <c:pt idx="3">
                    <c:v>Punjab</c:v>
                  </c:pt>
                  <c:pt idx="4">
                    <c:v>Gujarat</c:v>
                  </c:pt>
                  <c:pt idx="5">
                    <c:v>Tamil Nadu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118553</c:v>
                </c:pt>
                <c:pt idx="1">
                  <c:v>117383</c:v>
                </c:pt>
                <c:pt idx="2">
                  <c:v>116532</c:v>
                </c:pt>
                <c:pt idx="3">
                  <c:v>113567</c:v>
                </c:pt>
                <c:pt idx="4">
                  <c:v>113377</c:v>
                </c:pt>
                <c:pt idx="5">
                  <c:v>112650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F3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2E6B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F3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Teacher</c:v>
                  </c:pt>
                  <c:pt idx="1">
                    <c:v>Engineer</c:v>
                  </c:pt>
                  <c:pt idx="2">
                    <c:v>Student</c:v>
                  </c:pt>
                  <c:pt idx="3">
                    <c:v>Business</c:v>
                  </c:pt>
                  <c:pt idx="4">
                    <c:v>Labor</c:v>
                  </c:pt>
                  <c:pt idx="5">
                    <c:v>Doctor</c:v>
                  </c:pt>
                  <c:pt idx="6">
                    <c:v>Farmer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39406</c:v>
                </c:pt>
                <c:pt idx="1">
                  <c:v>38236</c:v>
                </c:pt>
                <c:pt idx="2">
                  <c:v>37597</c:v>
                </c:pt>
                <c:pt idx="3">
                  <c:v>37474</c:v>
                </c:pt>
                <c:pt idx="4">
                  <c:v>36792</c:v>
                </c:pt>
                <c:pt idx="5">
                  <c:v>36472</c:v>
                </c:pt>
                <c:pt idx="6">
                  <c:v>35018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F3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4F8A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F3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Punjab</c:v>
                  </c:pt>
                  <c:pt idx="1">
                    <c:v>Tamil Nadu</c:v>
                  </c:pt>
                  <c:pt idx="2">
                    <c:v>Karnataka</c:v>
                  </c:pt>
                  <c:pt idx="3">
                    <c:v>Gujarat</c:v>
                  </c:pt>
                  <c:pt idx="4">
                    <c:v>Delhi</c:v>
                  </c:pt>
                  <c:pt idx="5">
                    <c:v>Maharashtra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776417</c:v>
                </c:pt>
                <c:pt idx="1">
                  <c:v>765104</c:v>
                </c:pt>
                <c:pt idx="2">
                  <c:v>749335</c:v>
                </c:pt>
                <c:pt idx="3">
                  <c:v>743653</c:v>
                </c:pt>
                <c:pt idx="4">
                  <c:v>742177</c:v>
                </c:pt>
                <c:pt idx="5">
                  <c:v>734576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F3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Loan</c:v>
                </c:pt>
              </c:strCache>
            </c:strRef>
          </c:tx>
          <c:spPr>
            <a:solidFill>
              <a:srgbClr val="0E5C63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0E5C63"/>
              </a:solidFill>
              <a:ln w="9525" cap="flat">
                <a:solidFill>
                  <a:srgbClr val="0E5C63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592</c:v>
                </c:pt>
                <c:pt idx="1">
                  <c:v>590</c:v>
                </c:pt>
                <c:pt idx="2">
                  <c:v>612</c:v>
                </c:pt>
                <c:pt idx="3">
                  <c:v>594</c:v>
                </c:pt>
                <c:pt idx="4">
                  <c:v>606</c:v>
                </c:pt>
                <c:pt idx="5">
                  <c:v>606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742177</c:v>
                </c:pt>
                <c:pt idx="1">
                  <c:v>765104</c:v>
                </c:pt>
                <c:pt idx="2">
                  <c:v>776417</c:v>
                </c:pt>
                <c:pt idx="3">
                  <c:v>749335</c:v>
                </c:pt>
                <c:pt idx="4">
                  <c:v>734576</c:v>
                </c:pt>
                <c:pt idx="5">
                  <c:v>743653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D9B0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F3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Punjab</c:v>
                  </c:pt>
                  <c:pt idx="1">
                    <c:v>Karnataka</c:v>
                  </c:pt>
                  <c:pt idx="2">
                    <c:v>Tamil Nadu</c:v>
                  </c:pt>
                  <c:pt idx="3">
                    <c:v>Delhi</c:v>
                  </c:pt>
                  <c:pt idx="4">
                    <c:v>Gujarat</c:v>
                  </c:pt>
                  <c:pt idx="5">
                    <c:v>Maharashtra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5.82</c:v>
                </c:pt>
                <c:pt idx="1">
                  <c:v>5.65</c:v>
                </c:pt>
                <c:pt idx="2">
                  <c:v>5.54</c:v>
                </c:pt>
                <c:pt idx="3">
                  <c:v>5.47</c:v>
                </c:pt>
                <c:pt idx="4">
                  <c:v>5.46</c:v>
                </c:pt>
                <c:pt idx="5">
                  <c:v>5.41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F3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95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F3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Student</c:v>
                  </c:pt>
                  <c:pt idx="1">
                    <c:v>Business</c:v>
                  </c:pt>
                  <c:pt idx="2">
                    <c:v>Farmer</c:v>
                  </c:pt>
                  <c:pt idx="3">
                    <c:v>Teacher</c:v>
                  </c:pt>
                  <c:pt idx="4">
                    <c:v>Doctor</c:v>
                  </c:pt>
                  <c:pt idx="5">
                    <c:v>Engineer</c:v>
                  </c:pt>
                  <c:pt idx="6">
                    <c:v>Labor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55.3</c:v>
                </c:pt>
                <c:pt idx="1">
                  <c:v>53.3</c:v>
                </c:pt>
                <c:pt idx="2">
                  <c:v>52.3</c:v>
                </c:pt>
                <c:pt idx="3">
                  <c:v>50.7</c:v>
                </c:pt>
                <c:pt idx="4">
                  <c:v>50.4</c:v>
                </c:pt>
                <c:pt idx="5">
                  <c:v>48.7</c:v>
                </c:pt>
                <c:pt idx="6">
                  <c:v>48.3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F3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95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F3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Karnataka</c:v>
                  </c:pt>
                  <c:pt idx="1">
                    <c:v>Gujarat</c:v>
                  </c:pt>
                  <c:pt idx="2">
                    <c:v>Maharashtra</c:v>
                  </c:pt>
                  <c:pt idx="3">
                    <c:v>Delhi</c:v>
                  </c:pt>
                  <c:pt idx="4">
                    <c:v>Punjab</c:v>
                  </c:pt>
                  <c:pt idx="5">
                    <c:v>Tamil Nadu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482.6</c:v>
                </c:pt>
                <c:pt idx="1">
                  <c:v>476.4</c:v>
                </c:pt>
                <c:pt idx="2">
                  <c:v>467.4</c:v>
                </c:pt>
                <c:pt idx="3">
                  <c:v>459</c:v>
                </c:pt>
                <c:pt idx="4">
                  <c:v>446.9</c:v>
                </c:pt>
                <c:pt idx="5">
                  <c:v>446.1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F3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4F8A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F3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Well</c:v>
                  </c:pt>
                  <c:pt idx="1">
                    <c:v>Tap</c:v>
                  </c:pt>
                  <c:pt idx="2">
                    <c:v>Borewell</c:v>
                  </c:pt>
                  <c:pt idx="3">
                    <c:v>Tanker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640</c:v>
                </c:pt>
                <c:pt idx="1">
                  <c:v>631</c:v>
                </c:pt>
                <c:pt idx="2">
                  <c:v>624</c:v>
                </c:pt>
                <c:pt idx="3">
                  <c:v>605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F3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95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F3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Karnataka</c:v>
                  </c:pt>
                  <c:pt idx="1">
                    <c:v>Delhi</c:v>
                  </c:pt>
                  <c:pt idx="2">
                    <c:v>Maharashtra</c:v>
                  </c:pt>
                  <c:pt idx="3">
                    <c:v>Punjab</c:v>
                  </c:pt>
                  <c:pt idx="4">
                    <c:v>Gujarat</c:v>
                  </c:pt>
                  <c:pt idx="5">
                    <c:v>Tamil Nadu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157285</c:v>
                </c:pt>
                <c:pt idx="1">
                  <c:v>155268</c:v>
                </c:pt>
                <c:pt idx="2">
                  <c:v>152452</c:v>
                </c:pt>
                <c:pt idx="3">
                  <c:v>151427</c:v>
                </c:pt>
                <c:pt idx="4">
                  <c:v>150021</c:v>
                </c:pt>
                <c:pt idx="5">
                  <c:v>149235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F3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Credit</c:v>
                </c:pt>
              </c:strCache>
            </c:strRef>
          </c:tx>
          <c:spPr>
            <a:solidFill>
              <a:srgbClr val="0E5C63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0E5C63"/>
              </a:solidFill>
              <a:ln w="9525" cap="flat">
                <a:solidFill>
                  <a:srgbClr val="0E5C63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155268</c:v>
                </c:pt>
                <c:pt idx="1">
                  <c:v>149235</c:v>
                </c:pt>
                <c:pt idx="2">
                  <c:v>151427</c:v>
                </c:pt>
                <c:pt idx="3">
                  <c:v>157285</c:v>
                </c:pt>
                <c:pt idx="4">
                  <c:v>152452</c:v>
                </c:pt>
                <c:pt idx="5">
                  <c:v>150021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592</c:v>
                </c:pt>
                <c:pt idx="1">
                  <c:v>606</c:v>
                </c:pt>
                <c:pt idx="2">
                  <c:v>606</c:v>
                </c:pt>
                <c:pt idx="3">
                  <c:v>612</c:v>
                </c:pt>
                <c:pt idx="4">
                  <c:v>594</c:v>
                </c:pt>
                <c:pt idx="5">
                  <c:v>590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955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F3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Income</c:v>
                  </c:pt>
                  <c:pt idx="1">
                    <c:v>Loan Amt</c:v>
                  </c:pt>
                  <c:pt idx="2">
                    <c:v>Debt Ratio</c:v>
                  </c:pt>
                  <c:pt idx="3">
                    <c:v>Bank Bal.</c:v>
                  </c:pt>
                  <c:pt idx="4">
                    <c:v>Savings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0.003</c:v>
                </c:pt>
                <c:pt idx="1">
                  <c:v>0.008</c:v>
                </c:pt>
                <c:pt idx="2">
                  <c:v>-0.014</c:v>
                </c:pt>
                <c:pt idx="3">
                  <c:v>-0.004</c:v>
                </c:pt>
                <c:pt idx="4">
                  <c:v>-0.004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750" u="none">
                  <a:solidFill>
                    <a:srgbClr val="1F3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3"/>
          <c:min val="-0.03"/>
        </c:scaling>
        <c:delete val="0"/>
        <c:axPos val="l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Income(k)</c:v>
                </c:pt>
              </c:strCache>
            </c:strRef>
          </c:tx>
          <c:spPr>
            <a:solidFill>
              <a:srgbClr val="0E5C63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0E5C63"/>
              </a:solidFill>
              <a:ln w="9525" cap="flat">
                <a:solidFill>
                  <a:srgbClr val="0E5C63"/>
                </a:solidFill>
                <a:prstDash val="solid"/>
                <a:round/>
              </a:ln>
              <a:effectLst/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592</c:v>
                </c:pt>
                <c:pt idx="1">
                  <c:v>606</c:v>
                </c:pt>
                <c:pt idx="2">
                  <c:v>606</c:v>
                </c:pt>
                <c:pt idx="3">
                  <c:v>612</c:v>
                </c:pt>
                <c:pt idx="4">
                  <c:v>594</c:v>
                </c:pt>
                <c:pt idx="5">
                  <c:v>590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155.268</c:v>
                </c:pt>
                <c:pt idx="1">
                  <c:v>149.235</c:v>
                </c:pt>
                <c:pt idx="2">
                  <c:v>151.427</c:v>
                </c:pt>
                <c:pt idx="3">
                  <c:v>157.285</c:v>
                </c:pt>
                <c:pt idx="4">
                  <c:v>152.452</c:v>
                </c:pt>
                <c:pt idx="5">
                  <c:v>150.021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FD6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6" Type="http://schemas.openxmlformats.org/officeDocument/2006/relationships/chart" Target="/ppt/charts/chart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3.xml"/><Relationship Id="rId6" Type="http://schemas.openxmlformats.org/officeDocument/2006/relationships/chart" Target="/ppt/charts/chart4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7.xml"/><Relationship Id="rId6" Type="http://schemas.openxmlformats.org/officeDocument/2006/relationships/chart" Target="/ppt/charts/chart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9.xml"/><Relationship Id="rId6" Type="http://schemas.openxmlformats.org/officeDocument/2006/relationships/chart" Target="/ppt/charts/chart10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1.xml"/><Relationship Id="rId6" Type="http://schemas.openxmlformats.org/officeDocument/2006/relationships/chart" Target="/ppt/charts/chart12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3.xml"/><Relationship Id="rId6" Type="http://schemas.openxmlformats.org/officeDocument/2006/relationships/chart" Target="/ppt/charts/chart14.xm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5.xml"/><Relationship Id="rId6" Type="http://schemas.openxmlformats.org/officeDocument/2006/relationships/chart" Target="/ppt/charts/chart16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737360"/>
            <a:ext cx="4754880" cy="4754880"/>
          </a:xfrm>
          <a:prstGeom prst="ellipse">
            <a:avLst/>
          </a:prstGeom>
          <a:solidFill>
            <a:srgbClr val="0E5C63"/>
          </a:solidFill>
          <a:ln/>
        </p:spPr>
      </p:sp>
      <p:sp>
        <p:nvSpPr>
          <p:cNvPr id="3" name="Shape 1"/>
          <p:cNvSpPr/>
          <p:nvPr/>
        </p:nvSpPr>
        <p:spPr>
          <a:xfrm>
            <a:off x="-1920240" y="4663440"/>
            <a:ext cx="4206240" cy="4206240"/>
          </a:xfrm>
          <a:prstGeom prst="ellipse">
            <a:avLst/>
          </a:prstGeom>
          <a:solidFill>
            <a:srgbClr val="0E5C63"/>
          </a:solidFill>
          <a:ln/>
        </p:spPr>
      </p:sp>
      <p:pic>
        <p:nvPicPr>
          <p:cNvPr id="4" name="Image 0" descr="/home/claude/work/realicons_tealed/mon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057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HOUSEHOLD FINANCE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2697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95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34290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analysis of 2,500 Indian households — income, expenses, savings, loans, credit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housing and utility access — used to design an 8-page Power BI dashboard.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" y="4434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india_household_cleaned  ·  2,500 rows × 23 columns  ·  6 states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5074920"/>
            <a:ext cx="3840480" cy="0"/>
          </a:xfrm>
          <a:prstGeom prst="line">
            <a:avLst/>
          </a:prstGeom>
          <a:noFill/>
          <a:ln w="19050">
            <a:solidFill>
              <a:srgbClr val="E895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5212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Mayank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Dataset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households across 23 columns describe income, spending, debt, assets and utility access across 6 Indian states.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keys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69080" y="123444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Household_ID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0" y="1234440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unique household records, one row per family — no gaps, no repeats in the ID column.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066544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066544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2066544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District, Area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2066544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states (Delhi, Punjab, Karnataka, Tamil Nadu, Gujarat, Maharashtra), 4 districts, Urban/Rural split.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898648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98648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2898648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Expenses, Savings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2898648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₹5,029–₹2,99,997, plus Bank_Balance, Loan_Amount, Credit_Score, Debt_to_Income_Ratio.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30752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730752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&amp; utilities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69080" y="3730752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Own_House, Vehicles, Electricity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3730752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vehicle ownership, electricity usage, water source and internet access per household.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562856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562856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69080" y="4562856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Family_Size, Education, Occupation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4562856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size 1–10, 4 education tiers, 7 occupations from Labor to Doctor.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394960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5394960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fields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69080" y="539496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(bins), loan&gt;100k, Index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5394960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calculated columns added on top of the raw extract to power dashboard slicers and cards.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Household Finance — Power BI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3975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chart was built, the raw extract was profiled end to end — here is what that pass found and prepared.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&amp;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69080" y="123444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rows × 23 columns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0" y="1234440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the full extract loaded with the expected shape before any transformation began.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066544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066544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2066544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nulls, all columns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2066544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came back 100% populated — no imputation or default-filling was needed.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898648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98648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2898648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duplicates, ID unique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2898648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Household_ID for repeats and compared full rows — no duplicates found.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30752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730752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69080" y="3730752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(bins), loan&gt;100k, Index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3730752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income-band column, a boolean loan flag and a row index to power slicers and KPI cards.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562856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562856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check — Savings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69080" y="4562856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 households, 14.9%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4562856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minority spend more than they earn — flagged for a segment-level look, not dropped.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394960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5394960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check — Debt Ratio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69080" y="539496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to 257.5%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5394960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 has a long right tail; extreme values kept but flagged for the credit-score page.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Household Finance — Power BI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3975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Chart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type is built to answer one kind of question well — the dashboard pairs each visual to the question it needs to answer.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across a metric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69080" y="123444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/ Area Chart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0" y="1234440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income and expense across family size so the relationship is visible at a glance.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066544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066544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2066544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Column Chart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2066544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values side by side so states, occupations or education tiers can be ranked at a glance.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898648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98648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Part-to-whole split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2898648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/ Donut Chart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2898648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households split by home ownership, internet access or water source.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30752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730752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two numbers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69080" y="3730752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3730752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two measures against each other to reveal — or rule out — correlation.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562856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562856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pattern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69080" y="4562856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Map (in Power BI report)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4562856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average income and savings to real state boundaries in the live dashboard.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394960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5394960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values / cross-tab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69080" y="539496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Pivot Table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5394960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precise figures across two dimensions when an exact number matters more than a shape.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Household Finance — Power BI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3975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Chart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in Power BI Desktop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cleaned extract to a published 8-page report — here is the workflow behind every page.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Get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69080" y="123444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table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0" y="1234440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india_household_cleaned and loaded it into Power BI Desktop as the source table.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066544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066544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Power Query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2066544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 shape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2066544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data types, confirmed zero nulls/duplicates, and added the income-bin and loan-flag columns.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898648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98648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Modeling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2898648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&amp; measures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2898648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measures such as average income, savings rate and debt-to-income ratio on the flat table.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30752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730752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Visuals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69080" y="3730752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column, donut, scatter, map, table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3730752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one chart type per guiding question across 8 report pages — see ‘Choosing the Right Chart’.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562856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562856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Slicers &amp; interactivity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69080" y="4562856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Area, Occupation, Education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4562856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slicers so every visual on a page filters together the moment a user picks one value.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394960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5394960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Publish &amp; share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69080" y="539496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5394960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the .pbix so the dashboard can be viewed, refreshed and shared online.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Household Finance — Power BI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3975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Workflow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33272" y="274320"/>
            <a:ext cx="10655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 Overview &amp; Loan Snapshot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households are we analyzing, and how many carry meaningful debt or own property?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736092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pic>
        <p:nvPicPr>
          <p:cNvPr id="7" name="Image 0" descr="/home/claude/work/realicons_tealed/peo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538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households</a:t>
            </a:r>
            <a:endParaRPr lang="en-US" sz="800" dirty="0"/>
          </a:p>
        </p:txBody>
      </p:sp>
      <p:pic>
        <p:nvPicPr>
          <p:cNvPr id="10" name="Image 1" descr="/home/claude/work/realicons_tealed/avg_lo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14538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4149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4149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over ₹1 lakh</a:t>
            </a:r>
            <a:endParaRPr lang="en-US" sz="800" dirty="0"/>
          </a:p>
        </p:txBody>
      </p:sp>
      <p:pic>
        <p:nvPicPr>
          <p:cNvPr id="13" name="Image 2" descr="/home/claude/work/realicons_tealed/hou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14538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742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6742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their house</a:t>
            </a:r>
            <a:endParaRPr lang="en-US" sz="800" dirty="0"/>
          </a:p>
        </p:txBody>
      </p:sp>
      <p:pic>
        <p:nvPicPr>
          <p:cNvPr id="16" name="Image 3" descr="/home/claude/work/realicons_tealed/inc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145389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9335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66.8%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29335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over ₹1 lakh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731520" y="2011680"/>
            <a:ext cx="6903720" cy="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3152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— Households by Area</a:t>
            </a:r>
            <a:endParaRPr lang="en-US" sz="10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8580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 15"/>
          <p:cNvSpPr/>
          <p:nvPr/>
        </p:nvSpPr>
        <p:spPr>
          <a:xfrm>
            <a:off x="422910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— Home Ownership Split</a:t>
            </a:r>
            <a:endParaRPr lang="en-US" sz="105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18338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4" name="Shape 16"/>
          <p:cNvSpPr/>
          <p:nvPr/>
        </p:nvSpPr>
        <p:spPr>
          <a:xfrm>
            <a:off x="8092440" y="1234440"/>
            <a:ext cx="3596335" cy="4892040"/>
          </a:xfrm>
          <a:prstGeom prst="roundRect">
            <a:avLst>
              <a:gd name="adj" fmla="val 1526"/>
            </a:avLst>
          </a:prstGeom>
          <a:solidFill>
            <a:srgbClr val="0E5C63"/>
          </a:solidFill>
          <a:ln/>
        </p:spPr>
      </p:sp>
      <p:sp>
        <p:nvSpPr>
          <p:cNvPr id="25" name="Text 17"/>
          <p:cNvSpPr/>
          <p:nvPr/>
        </p:nvSpPr>
        <p:spPr>
          <a:xfrm>
            <a:off x="8348472" y="1463040"/>
            <a:ext cx="3084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8348472" y="192024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2,339 of 2,500 households (93.6%) carry a loan above ₹1 lakh.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8348472" y="324612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over half (51.2%) own their home — the rest are renting or financing.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8348472" y="457200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(1296) and rural (1204) households are almost evenly split.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1 of 8 — Household Overview &amp; Loan Snapshot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573975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Household Finance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33272" y="274320"/>
            <a:ext cx="10655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Distribution &amp; Segmentation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household income spread across families, and where does most of it concentrate?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736092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pic>
        <p:nvPicPr>
          <p:cNvPr id="7" name="Image 0" descr="/home/claude/work/realicons_tealed/in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538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₹1,52,632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income</a:t>
            </a:r>
            <a:endParaRPr lang="en-US" sz="800" dirty="0"/>
          </a:p>
        </p:txBody>
      </p:sp>
      <p:pic>
        <p:nvPicPr>
          <p:cNvPr id="10" name="Image 1" descr="/home/claude/work/realicons_tealed/med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14538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4149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₹1,51,576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4149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income</a:t>
            </a:r>
            <a:endParaRPr lang="en-US" sz="800" dirty="0"/>
          </a:p>
        </p:txBody>
      </p:sp>
      <p:pic>
        <p:nvPicPr>
          <p:cNvPr id="13" name="Image 2" descr="/home/claude/work/realicons_tealed/minim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14538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742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₹5,029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6742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income</a:t>
            </a:r>
            <a:endParaRPr lang="en-US" sz="800" dirty="0"/>
          </a:p>
        </p:txBody>
      </p:sp>
      <p:pic>
        <p:nvPicPr>
          <p:cNvPr id="16" name="Image 3" descr="/home/claude/work/realicons_tealed/aver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145389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9335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₹2,99,997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29335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income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731520" y="2011680"/>
            <a:ext cx="6903720" cy="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3152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 — Household Count by Income Band</a:t>
            </a:r>
            <a:endParaRPr lang="en-US" sz="10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8580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 15"/>
          <p:cNvSpPr/>
          <p:nvPr/>
        </p:nvSpPr>
        <p:spPr>
          <a:xfrm>
            <a:off x="422910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Avg Income vs Avg Expense (State)</a:t>
            </a:r>
            <a:endParaRPr lang="en-US" sz="105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18338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4" name="Shape 16"/>
          <p:cNvSpPr/>
          <p:nvPr/>
        </p:nvSpPr>
        <p:spPr>
          <a:xfrm>
            <a:off x="8092440" y="1234440"/>
            <a:ext cx="3596335" cy="4892040"/>
          </a:xfrm>
          <a:prstGeom prst="roundRect">
            <a:avLst>
              <a:gd name="adj" fmla="val 1526"/>
            </a:avLst>
          </a:prstGeom>
          <a:solidFill>
            <a:srgbClr val="0E5C63"/>
          </a:solidFill>
          <a:ln/>
        </p:spPr>
      </p:sp>
      <p:sp>
        <p:nvSpPr>
          <p:cNvPr id="25" name="Text 17"/>
          <p:cNvSpPr/>
          <p:nvPr/>
        </p:nvSpPr>
        <p:spPr>
          <a:xfrm>
            <a:off x="8348472" y="1463040"/>
            <a:ext cx="3084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8348472" y="192024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spreads almost evenly across bands — no single ₹50k range holds more than ~18% of households.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8348472" y="324612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(₹1,51,576) sits right next to the mean (₹1,52,632) — not skewed by outliers.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8348472" y="457200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expense move together strongly (r = 0.878) — higher earners spend more too.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2 of 8 — Income Distribution &amp; Segmentation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573975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Household Finance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33272" y="274320"/>
            <a:ext cx="10655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&amp; Savings Behaviour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households spend and save, and which states spend the most?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736092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pic>
        <p:nvPicPr>
          <p:cNvPr id="7" name="Image 0" descr="/home/claude/work/realicons_tealed/expe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538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₹1,15,351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expense</a:t>
            </a:r>
            <a:endParaRPr lang="en-US" sz="800" dirty="0"/>
          </a:p>
        </p:txBody>
      </p:sp>
      <p:pic>
        <p:nvPicPr>
          <p:cNvPr id="10" name="Image 1" descr="/home/claude/work/realicons_tealed/sav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14538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4149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₹37,281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4149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savings</a:t>
            </a:r>
            <a:endParaRPr lang="en-US" sz="800" dirty="0"/>
          </a:p>
        </p:txBody>
      </p:sp>
      <p:pic>
        <p:nvPicPr>
          <p:cNvPr id="13" name="Image 2" descr="/home/claude/work/realicons_tealed/expense_rat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14538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742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75.5%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6742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800" dirty="0"/>
          </a:p>
        </p:txBody>
      </p:sp>
      <p:pic>
        <p:nvPicPr>
          <p:cNvPr id="16" name="Image 3" descr="/home/claude/work/realicons_tealed/savings_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145389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9335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29335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rate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731520" y="2011680"/>
            <a:ext cx="6903720" cy="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3152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— Which State Spends the Most?</a:t>
            </a:r>
            <a:endParaRPr lang="en-US" sz="10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8580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 15"/>
          <p:cNvSpPr/>
          <p:nvPr/>
        </p:nvSpPr>
        <p:spPr>
          <a:xfrm>
            <a:off x="422910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Avg Savings by Occupation</a:t>
            </a:r>
            <a:endParaRPr lang="en-US" sz="105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18338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4" name="Shape 16"/>
          <p:cNvSpPr/>
          <p:nvPr/>
        </p:nvSpPr>
        <p:spPr>
          <a:xfrm>
            <a:off x="8092440" y="1234440"/>
            <a:ext cx="3596335" cy="4892040"/>
          </a:xfrm>
          <a:prstGeom prst="roundRect">
            <a:avLst>
              <a:gd name="adj" fmla="val 1526"/>
            </a:avLst>
          </a:prstGeom>
          <a:solidFill>
            <a:srgbClr val="0E5C63"/>
          </a:solidFill>
          <a:ln/>
        </p:spPr>
      </p:sp>
      <p:sp>
        <p:nvSpPr>
          <p:cNvPr id="25" name="Text 17"/>
          <p:cNvSpPr/>
          <p:nvPr/>
        </p:nvSpPr>
        <p:spPr>
          <a:xfrm>
            <a:off x="8348472" y="1463040"/>
            <a:ext cx="3084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8348472" y="192024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spends the most on average (₹1,18,553); Tamil Nadu the least (₹1,12,650).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8348472" y="324612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75.5% of income goes to expenses on average — leaving a 24.5% savings rate.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8348472" y="457200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 households (14.9%) spend more than they earn.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3 of 8 — Expense &amp; Savings Behaviour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573975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Household Finance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33272" y="274320"/>
            <a:ext cx="10655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Loan, Debt &amp; Credit Score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large are household loans, and does credit score actually explain the loan amount?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736092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pic>
        <p:nvPicPr>
          <p:cNvPr id="7" name="Image 0" descr="/home/claude/work/realicons_tealed/avg_lo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538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₹7,52,039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loan</a:t>
            </a:r>
            <a:endParaRPr lang="en-US" sz="800" dirty="0"/>
          </a:p>
        </p:txBody>
      </p:sp>
      <p:pic>
        <p:nvPicPr>
          <p:cNvPr id="10" name="Image 1" descr="/home/claude/work/realicons_tealed/total_lo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14538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4149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₹188 Cr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4149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</a:t>
            </a:r>
            <a:endParaRPr lang="en-US" sz="800" dirty="0"/>
          </a:p>
        </p:txBody>
      </p:sp>
      <p:pic>
        <p:nvPicPr>
          <p:cNvPr id="13" name="Image 2" descr="/home/claude/work/realicons_tealed/debt_rat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14538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742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6742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debt ratio</a:t>
            </a:r>
            <a:endParaRPr lang="en-US" sz="800" dirty="0"/>
          </a:p>
        </p:txBody>
      </p:sp>
      <p:pic>
        <p:nvPicPr>
          <p:cNvPr id="16" name="Image 3" descr="/home/claude/work/realicons_tealed/avg_cred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145389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9335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29335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score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731520" y="2011680"/>
            <a:ext cx="6903720" cy="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3152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— Highest Avg Loan by State</a:t>
            </a:r>
            <a:endParaRPr lang="en-US" sz="10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8580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 15"/>
          <p:cNvSpPr/>
          <p:nvPr/>
        </p:nvSpPr>
        <p:spPr>
          <a:xfrm>
            <a:off x="422910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Credit Score vs Loan (State avg)</a:t>
            </a:r>
            <a:endParaRPr lang="en-US" sz="105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18338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4" name="Shape 16"/>
          <p:cNvSpPr/>
          <p:nvPr/>
        </p:nvSpPr>
        <p:spPr>
          <a:xfrm>
            <a:off x="8092440" y="1234440"/>
            <a:ext cx="3596335" cy="4892040"/>
          </a:xfrm>
          <a:prstGeom prst="roundRect">
            <a:avLst>
              <a:gd name="adj" fmla="val 1526"/>
            </a:avLst>
          </a:prstGeom>
          <a:solidFill>
            <a:srgbClr val="0E5C63"/>
          </a:solidFill>
          <a:ln/>
        </p:spPr>
      </p:sp>
      <p:sp>
        <p:nvSpPr>
          <p:cNvPr id="25" name="Text 17"/>
          <p:cNvSpPr/>
          <p:nvPr/>
        </p:nvSpPr>
        <p:spPr>
          <a:xfrm>
            <a:off x="8348472" y="1463040"/>
            <a:ext cx="3084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8348472" y="192024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carries the highest average loan (₹7,76,417); Maharashtra the lowest (₹7,34,576).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8348472" y="324612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and loan amount barely correlate (r = 0.008) here.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8348472" y="457200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 ranges 0%–257.5%, with a long leveraged tail.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4 of 8 — Loan, Debt &amp; Credit Score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573975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Household Finance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33272" y="274320"/>
            <a:ext cx="10655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Family, Housing &amp; Vehicle Ownership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family size, home ownership and vehicle count relate to each other?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736092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pic>
        <p:nvPicPr>
          <p:cNvPr id="7" name="Image 0" descr="/home/claude/work/realicons_tealed/fami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538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family size</a:t>
            </a:r>
            <a:endParaRPr lang="en-US" sz="800" dirty="0"/>
          </a:p>
        </p:txBody>
      </p:sp>
      <p:pic>
        <p:nvPicPr>
          <p:cNvPr id="10" name="Image 1" descr="/home/claude/work/realicons_tealed/hou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14538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4149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1,280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4149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Own-house count</a:t>
            </a:r>
            <a:endParaRPr lang="en-US" sz="800" dirty="0"/>
          </a:p>
        </p:txBody>
      </p:sp>
      <p:pic>
        <p:nvPicPr>
          <p:cNvPr id="13" name="Image 2" descr="/home/claude/work/realicons_tealed/c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14538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742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6742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vehicles</a:t>
            </a:r>
            <a:endParaRPr lang="en-US" sz="800" dirty="0"/>
          </a:p>
        </p:txBody>
      </p:sp>
      <p:pic>
        <p:nvPicPr>
          <p:cNvPr id="16" name="Image 3" descr="/home/claude/work/realicons/fallback_wifi_0E5C6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145389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9335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1,272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29335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users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731520" y="2011680"/>
            <a:ext cx="6903720" cy="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3152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— Largest Families by State</a:t>
            </a:r>
            <a:endParaRPr lang="en-US" sz="10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8580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 15"/>
          <p:cNvSpPr/>
          <p:nvPr/>
        </p:nvSpPr>
        <p:spPr>
          <a:xfrm>
            <a:off x="422910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Home Ownership % by Occupation</a:t>
            </a:r>
            <a:endParaRPr lang="en-US" sz="105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18338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4" name="Shape 16"/>
          <p:cNvSpPr/>
          <p:nvPr/>
        </p:nvSpPr>
        <p:spPr>
          <a:xfrm>
            <a:off x="8092440" y="1234440"/>
            <a:ext cx="3596335" cy="4892040"/>
          </a:xfrm>
          <a:prstGeom prst="roundRect">
            <a:avLst>
              <a:gd name="adj" fmla="val 1526"/>
            </a:avLst>
          </a:prstGeom>
          <a:solidFill>
            <a:srgbClr val="0E5C63"/>
          </a:solidFill>
          <a:ln/>
        </p:spPr>
      </p:sp>
      <p:sp>
        <p:nvSpPr>
          <p:cNvPr id="25" name="Text 17"/>
          <p:cNvSpPr/>
          <p:nvPr/>
        </p:nvSpPr>
        <p:spPr>
          <a:xfrm>
            <a:off x="8348472" y="1463040"/>
            <a:ext cx="3084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8348472" y="192024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has the largest average family size (5.82); Maharashtra the smallest (5.41).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8348472" y="324612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(55.3%) and Business households (53.3%) own homes most.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8348472" y="457200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size and vehicles barely relate (r = -0.031) — bigger families don’t own more vehicles.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5 of 8 — Family, Housing &amp; Vehicle Ownership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573975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Household Finance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33272" y="274320"/>
            <a:ext cx="10655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Utilities — Electricity &amp; Water Access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electricity do households use, and where does their water come from?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736092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pic>
        <p:nvPicPr>
          <p:cNvPr id="7" name="Image 0" descr="/home/claude/work/realicons_tealed/electric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538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462.7 u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electricity usage</a:t>
            </a:r>
            <a:endParaRPr lang="en-US" sz="800" dirty="0"/>
          </a:p>
        </p:txBody>
      </p:sp>
      <p:pic>
        <p:nvPicPr>
          <p:cNvPr id="10" name="Image 1" descr="/home/claude/work/realicons_tealed/home_u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14538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4149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4149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Highest-usage state</a:t>
            </a:r>
            <a:endParaRPr lang="en-US" sz="800" dirty="0"/>
          </a:p>
        </p:txBody>
      </p:sp>
      <p:pic>
        <p:nvPicPr>
          <p:cNvPr id="13" name="Image 2" descr="/home/claude/work/realicons_tealed/ba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14538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742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₹10,23,941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6742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bank balance</a:t>
            </a:r>
            <a:endParaRPr lang="en-US" sz="800" dirty="0"/>
          </a:p>
        </p:txBody>
      </p:sp>
      <p:pic>
        <p:nvPicPr>
          <p:cNvPr id="16" name="Image 3" descr="/home/claude/work/realicons/fallback_wifi_0E5C6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145389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9335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50.9%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29335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731520" y="2011680"/>
            <a:ext cx="6903720" cy="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3152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— Avg Electricity Usage by State</a:t>
            </a:r>
            <a:endParaRPr lang="en-US" sz="10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8580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 15"/>
          <p:cNvSpPr/>
          <p:nvPr/>
        </p:nvSpPr>
        <p:spPr>
          <a:xfrm>
            <a:off x="422910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Water Source Distribution</a:t>
            </a:r>
            <a:endParaRPr lang="en-US" sz="105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18338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4" name="Shape 16"/>
          <p:cNvSpPr/>
          <p:nvPr/>
        </p:nvSpPr>
        <p:spPr>
          <a:xfrm>
            <a:off x="8092440" y="1234440"/>
            <a:ext cx="3596335" cy="4892040"/>
          </a:xfrm>
          <a:prstGeom prst="roundRect">
            <a:avLst>
              <a:gd name="adj" fmla="val 1526"/>
            </a:avLst>
          </a:prstGeom>
          <a:solidFill>
            <a:srgbClr val="0E5C63"/>
          </a:solidFill>
          <a:ln/>
        </p:spPr>
      </p:sp>
      <p:sp>
        <p:nvSpPr>
          <p:cNvPr id="25" name="Text 17"/>
          <p:cNvSpPr/>
          <p:nvPr/>
        </p:nvSpPr>
        <p:spPr>
          <a:xfrm>
            <a:off x="8348472" y="1463040"/>
            <a:ext cx="3084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8348472" y="192024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uses the most electricity per household (482.6 units); Tamil Nadu the least (446.1).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8348472" y="324612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source is fairly even across Well, Tap, Borewell and Tanker.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8348472" y="457200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electricity usage barely correlate (r = 0.021) — usage looks habit-driven.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6 of 8 — Utilities — Electricity &amp; Water Access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573975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Household Finance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33272" y="274320"/>
            <a:ext cx="10655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Income Patterns Across States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report the highest average income, and how does that map to savings?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736092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pic>
        <p:nvPicPr>
          <p:cNvPr id="7" name="Image 0" descr="/home/claude/work/realicons/fallback_map_0E5C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538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income state</a:t>
            </a:r>
            <a:endParaRPr lang="en-US" sz="800" dirty="0"/>
          </a:p>
        </p:txBody>
      </p:sp>
      <p:pic>
        <p:nvPicPr>
          <p:cNvPr id="10" name="Image 1" descr="/home/claude/work/realicons_tealed/sav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14538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4149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₹37,281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4149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savings</a:t>
            </a:r>
            <a:endParaRPr lang="en-US" sz="800" dirty="0"/>
          </a:p>
        </p:txBody>
      </p:sp>
      <p:pic>
        <p:nvPicPr>
          <p:cNvPr id="13" name="Image 2" descr="/home/claude/work/realicons_tealed/avg_cr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14538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742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6742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score</a:t>
            </a:r>
            <a:endParaRPr lang="en-US" sz="800" dirty="0"/>
          </a:p>
        </p:txBody>
      </p:sp>
      <p:pic>
        <p:nvPicPr>
          <p:cNvPr id="16" name="Image 3" descr="/home/claude/work/realicons_tealed/electric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145389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9335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462.7 u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29335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electricity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731520" y="2011680"/>
            <a:ext cx="6903720" cy="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3152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(map view) — Avg Income by State</a:t>
            </a:r>
            <a:endParaRPr lang="en-US" sz="10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8580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 15"/>
          <p:cNvSpPr/>
          <p:nvPr/>
        </p:nvSpPr>
        <p:spPr>
          <a:xfrm>
            <a:off x="422910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Avg Income vs Avg Credit Score</a:t>
            </a:r>
            <a:endParaRPr lang="en-US" sz="105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18338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4" name="Shape 16"/>
          <p:cNvSpPr/>
          <p:nvPr/>
        </p:nvSpPr>
        <p:spPr>
          <a:xfrm>
            <a:off x="8092440" y="1234440"/>
            <a:ext cx="3596335" cy="4892040"/>
          </a:xfrm>
          <a:prstGeom prst="roundRect">
            <a:avLst>
              <a:gd name="adj" fmla="val 1526"/>
            </a:avLst>
          </a:prstGeom>
          <a:solidFill>
            <a:srgbClr val="0E5C63"/>
          </a:solidFill>
          <a:ln/>
        </p:spPr>
      </p:sp>
      <p:sp>
        <p:nvSpPr>
          <p:cNvPr id="25" name="Text 17"/>
          <p:cNvSpPr/>
          <p:nvPr/>
        </p:nvSpPr>
        <p:spPr>
          <a:xfrm>
            <a:off x="8348472" y="1463040"/>
            <a:ext cx="3084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8348472" y="192024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leads on average income (₹1,57,285); Tamil Nadu trails (₹1,49,235).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8348472" y="324612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Power BI report plots this on a filled map of India — shown here as a ranked bar chart.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8348472" y="457200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balance and credit score show almost no relationship (r = -0.004) across states.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7 of 8 — Geographic Income Patterns Across States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573975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Household Finance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33272" y="274320"/>
            <a:ext cx="10655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Credit Score?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household factors actually move the credit score — income, loans, or something else?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736092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pic>
        <p:nvPicPr>
          <p:cNvPr id="7" name="Image 0" descr="/home/claude/work/realicons_tealed/in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538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₹1,52,632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</a:t>
            </a:r>
            <a:endParaRPr lang="en-US" sz="800" dirty="0"/>
          </a:p>
        </p:txBody>
      </p:sp>
      <p:pic>
        <p:nvPicPr>
          <p:cNvPr id="10" name="Image 1" descr="/home/claude/work/realicons_tealed/avg_cr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14538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4149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4149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credit score</a:t>
            </a:r>
            <a:endParaRPr lang="en-US" sz="800" dirty="0"/>
          </a:p>
        </p:txBody>
      </p:sp>
      <p:pic>
        <p:nvPicPr>
          <p:cNvPr id="13" name="Image 2" descr="/home/claude/work/realicons_tealed/debt_rat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14538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742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6742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debt ratio</a:t>
            </a:r>
            <a:endParaRPr lang="en-US" sz="800" dirty="0"/>
          </a:p>
        </p:txBody>
      </p:sp>
      <p:pic>
        <p:nvPicPr>
          <p:cNvPr id="16" name="Image 3" descr="/home/claude/work/realicons_tealed/savings_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310" y="145389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93358" y="1380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293358" y="161848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savings rate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731520" y="2011680"/>
            <a:ext cx="6903720" cy="0"/>
          </a:xfrm>
          <a:prstGeom prst="line">
            <a:avLst/>
          </a:prstGeom>
          <a:noFill/>
          <a:ln w="12700">
            <a:solidFill>
              <a:srgbClr val="E4DFD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3152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CHART — Credit Score Drivers</a:t>
            </a:r>
            <a:endParaRPr lang="en-US" sz="10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8580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 15"/>
          <p:cNvSpPr/>
          <p:nvPr/>
        </p:nvSpPr>
        <p:spPr>
          <a:xfrm>
            <a:off x="4229100" y="2194560"/>
            <a:ext cx="3406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Avg Credit Score vs Avg Income</a:t>
            </a:r>
            <a:endParaRPr lang="en-US" sz="105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183380" y="2450592"/>
          <a:ext cx="34975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4" name="Shape 16"/>
          <p:cNvSpPr/>
          <p:nvPr/>
        </p:nvSpPr>
        <p:spPr>
          <a:xfrm>
            <a:off x="8092440" y="1234440"/>
            <a:ext cx="3596335" cy="4892040"/>
          </a:xfrm>
          <a:prstGeom prst="roundRect">
            <a:avLst>
              <a:gd name="adj" fmla="val 1526"/>
            </a:avLst>
          </a:prstGeom>
          <a:solidFill>
            <a:srgbClr val="0E5C63"/>
          </a:solidFill>
          <a:ln/>
        </p:spPr>
      </p:sp>
      <p:sp>
        <p:nvSpPr>
          <p:cNvPr id="25" name="Text 17"/>
          <p:cNvSpPr/>
          <p:nvPr/>
        </p:nvSpPr>
        <p:spPr>
          <a:xfrm>
            <a:off x="8348472" y="1463040"/>
            <a:ext cx="30842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8348472" y="192024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factor tested correlates with credit score at under ±0.02 — essentially no linear relationship.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8348472" y="324612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points to Credit_Score being randomly generated in this dummy dataset.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8348472" y="4572000"/>
            <a:ext cx="3084271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flagging: don’t read a causal credit-score story into synthetic data.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8 of 8 — What Drives Credit Score?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573975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Household Finance Dataset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Notes We Found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dashboard surfaced a few patterns worth a second look before trusting every number at face value.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savings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69080" y="123444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 households, 14.9%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23760" y="1234440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minority spend more than they earn — worth segmenting rather than averaging away.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066544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066544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debt ratio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2066544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257.5%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2066544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right tail on Debt_to_Income_Ratio suggests a few households are very highly leveraged.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898648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98648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looks random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2898648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&lt; 0.02 with every field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2898648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loan, savings and bank balance all show near-zero correlation with Credit_Score.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30752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730752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core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69080" y="3730752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nulls, 0 duplicates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3730752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derived fields above, the raw extract itself is fully populated and duplicate-free.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562856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562856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category spread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69080" y="4562856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States, water source, area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4562856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(392–442), water sources (605–640), Urban/Rural (1204/1296) — close to evenly sized.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394960"/>
            <a:ext cx="11185855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93F44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5394960"/>
            <a:ext cx="3200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dataset caveat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69080" y="5394960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insights as illustrative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5394960"/>
            <a:ext cx="423641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generated practice dataset — patterns here demonstrate technique, not real economic claims.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Household Finance — Power BI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3975" y="6528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3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E5C6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Takeaway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this dashboard is decorative. Each chart type was picked because it is the clearest way to answer that page’s guiding question.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487168"/>
            <a:ext cx="5669280" cy="0"/>
          </a:xfrm>
          <a:prstGeom prst="line">
            <a:avLst/>
          </a:prstGeom>
          <a:noFill/>
          <a:ln w="12700">
            <a:solidFill>
              <a:srgbClr val="0E5C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37560" y="19202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/ Area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127248"/>
            <a:ext cx="5669280" cy="0"/>
          </a:xfrm>
          <a:prstGeom prst="line">
            <a:avLst/>
          </a:prstGeom>
          <a:noFill/>
          <a:ln w="12700">
            <a:solidFill>
              <a:srgbClr val="0E5C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603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5603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Column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767328"/>
            <a:ext cx="5669280" cy="0"/>
          </a:xfrm>
          <a:prstGeom prst="line">
            <a:avLst/>
          </a:prstGeom>
          <a:noFill/>
          <a:ln w="12700">
            <a:solidFill>
              <a:srgbClr val="0E5C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004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32004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/ Donut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407408"/>
            <a:ext cx="5669280" cy="0"/>
          </a:xfrm>
          <a:prstGeom prst="line">
            <a:avLst/>
          </a:prstGeom>
          <a:noFill/>
          <a:ln w="12700">
            <a:solidFill>
              <a:srgbClr val="0E5C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404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38404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047488"/>
            <a:ext cx="5669280" cy="0"/>
          </a:xfrm>
          <a:prstGeom prst="line">
            <a:avLst/>
          </a:prstGeom>
          <a:noFill/>
          <a:ln w="12700">
            <a:solidFill>
              <a:srgbClr val="0E5C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4805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44805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Map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5687568"/>
            <a:ext cx="5669280" cy="0"/>
          </a:xfrm>
          <a:prstGeom prst="line">
            <a:avLst/>
          </a:prstGeom>
          <a:noFill/>
          <a:ln w="12700">
            <a:solidFill>
              <a:srgbClr val="0E5C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1206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37560" y="51206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Pivot Table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40880" y="1920240"/>
            <a:ext cx="4572000" cy="4572000"/>
          </a:xfrm>
          <a:prstGeom prst="ellipse">
            <a:avLst/>
          </a:prstGeom>
          <a:solidFill>
            <a:srgbClr val="0E5C63"/>
          </a:solidFill>
          <a:ln w="19050">
            <a:solidFill>
              <a:srgbClr val="E8955A"/>
            </a:solidFill>
            <a:prstDash val="solid"/>
          </a:ln>
        </p:spPr>
      </p:sp>
      <p:pic>
        <p:nvPicPr>
          <p:cNvPr id="24" name="Image 0" descr="/home/claude/work/realicons_tealed/mon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3383280"/>
            <a:ext cx="822960" cy="8229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040880" y="4389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704088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analyzed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02920" y="6172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Household Finance Analytics Dashboard</dc:title>
  <dc:subject>PptxGenJS Presentation</dc:subject>
  <dc:creator>Mayank</dc:creator>
  <cp:lastModifiedBy>Mayank</cp:lastModifiedBy>
  <cp:revision>1</cp:revision>
  <dcterms:created xsi:type="dcterms:W3CDTF">2026-07-04T04:57:16Z</dcterms:created>
  <dcterms:modified xsi:type="dcterms:W3CDTF">2026-07-04T04:57:16Z</dcterms:modified>
</cp:coreProperties>
</file>